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365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BE8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640080"/>
            <a:ext cx="2926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436556"/>
                </a:solidFill>
                <a:latin typeface="Microsoft YaHei"/>
              </a:rPr>
              <a:t>讲课投影版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07008"/>
            <a:ext cx="9875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300" b="1">
                <a:solidFill>
                  <a:srgbClr val="1D1D1B"/>
                </a:solidFill>
                <a:latin typeface="Microsoft YaHei"/>
              </a:rPr>
              <a:t>离开父母以后，
怎样在神里面站住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2788920"/>
            <a:ext cx="8778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67625A"/>
                </a:solidFill>
                <a:latin typeface="Microsoft YaHei"/>
              </a:rPr>
              <a:t>一个过来人的故事，不是标准答案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3794760"/>
            <a:ext cx="8046720" cy="987552"/>
          </a:xfrm>
          <a:prstGeom prst="roundRect">
            <a:avLst/>
          </a:prstGeom>
          <a:solidFill>
            <a:srgbClr val="FFFFFF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 b="1">
                <a:solidFill>
                  <a:srgbClr val="436556"/>
                </a:solidFill>
                <a:latin typeface="Microsoft YaHei"/>
              </a:rPr>
              <a:t>撑不住的时候，不要躲开神。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5138928"/>
            <a:ext cx="9509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67625A"/>
                </a:solidFill>
                <a:latin typeface="Microsoft YaHei"/>
              </a:rPr>
              <a:t>给即将上高中、上大学的孩子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355080"/>
            <a:ext cx="10927080" cy="18288"/>
          </a:xfrm>
          <a:prstGeom prst="rect">
            <a:avLst/>
          </a:prstGeom>
          <a:solidFill>
            <a:srgbClr val="DB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419088"/>
            <a:ext cx="7863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7625A"/>
                </a:solidFill>
                <a:latin typeface="Microsoft YaHe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6419088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7625A"/>
                </a:solidFill>
                <a:latin typeface="Microsoft YaHei"/>
              </a:rPr>
              <a:t>诗 30:5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7625A"/>
                </a:solidFill>
                <a:latin typeface="Microsoft YaHe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20040"/>
            <a:ext cx="2148840" cy="347472"/>
          </a:xfrm>
          <a:prstGeom prst="roundRect">
            <a:avLst/>
          </a:prstGeom>
          <a:solidFill>
            <a:srgbClr val="4365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开场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0607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D1D1B"/>
                </a:solidFill>
                <a:latin typeface="Microsoft YaHei"/>
              </a:rPr>
              <a:t>今天不讲漂亮话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9966960" cy="2880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300" b="0">
                <a:solidFill>
                  <a:srgbClr val="1D1D1B"/>
                </a:solidFill>
                <a:latin typeface="Microsoft YaHei"/>
              </a:rPr>
              <a:t>漂亮话都对，但遇到压力时不一定撑得住。</a:t>
            </a:r>
          </a:p>
          <a:p>
            <a:pPr>
              <a:spcAft>
                <a:spcPts val="1200"/>
              </a:spcAft>
            </a:pPr>
            <a:r>
              <a:rPr sz="2300" b="0">
                <a:solidFill>
                  <a:srgbClr val="1D1D1B"/>
                </a:solidFill>
                <a:latin typeface="Microsoft YaHei"/>
              </a:rPr>
              <a:t>我想讲一点自己走过以后才明白的事。</a:t>
            </a:r>
          </a:p>
          <a:p>
            <a:pPr>
              <a:spcAft>
                <a:spcPts val="1200"/>
              </a:spcAft>
            </a:pPr>
            <a:r>
              <a:rPr sz="2300" b="0">
                <a:solidFill>
                  <a:srgbClr val="1D1D1B"/>
                </a:solidFill>
                <a:latin typeface="Microsoft YaHei"/>
              </a:rPr>
              <a:t>你们不一定马上有感觉，可以先放在心里。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4892040"/>
            <a:ext cx="98755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436556"/>
                </a:solidFill>
                <a:latin typeface="Microsoft YaHei"/>
              </a:rPr>
              <a:t>今天只希望你记住：撑不住的时候，不要躲开神。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55080"/>
            <a:ext cx="10927080" cy="18288"/>
          </a:xfrm>
          <a:prstGeom prst="rect">
            <a:avLst/>
          </a:prstGeom>
          <a:solidFill>
            <a:srgbClr val="DB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863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7625A"/>
                </a:solidFill>
                <a:latin typeface="Microsoft YaHei"/>
              </a:rPr>
              <a:t>先拉近距离：我不是来考试，也不是来压你们。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1080" y="6419088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7625A"/>
                </a:solidFill>
                <a:latin typeface="Microsoft YaHei"/>
              </a:rPr>
              <a:t>约 16:33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7625A"/>
                </a:solidFill>
                <a:latin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20040"/>
            <a:ext cx="2148840" cy="347472"/>
          </a:xfrm>
          <a:prstGeom prst="roundRect">
            <a:avLst/>
          </a:prstGeom>
          <a:solidFill>
            <a:srgbClr val="305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安静问题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84124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1D1D1B"/>
                </a:solidFill>
                <a:latin typeface="Microsoft YaHei"/>
              </a:rPr>
              <a:t>如果没人提醒你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10058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100" b="1">
                <a:solidFill>
                  <a:srgbClr val="305B75"/>
                </a:solidFill>
                <a:latin typeface="Microsoft YaHei"/>
              </a:rPr>
              <a:t>你最担心自己在哪方面站不住？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400" y="4389120"/>
            <a:ext cx="8046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67625A"/>
                </a:solidFill>
                <a:latin typeface="Microsoft YaHei"/>
              </a:rPr>
              <a:t>停 10 秒，不用公开回答。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55080"/>
            <a:ext cx="10927080" cy="18288"/>
          </a:xfrm>
          <a:prstGeom prst="rect">
            <a:avLst/>
          </a:prstGeom>
          <a:solidFill>
            <a:srgbClr val="DB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863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7625A"/>
                </a:solidFill>
                <a:latin typeface="Microsoft YaHei"/>
              </a:rPr>
              <a:t>这个问题让他们先进入自己的处境。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1080" y="6419088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7625A"/>
                </a:solidFill>
                <a:latin typeface="Microsoft YaHei"/>
              </a:rPr>
              <a:t>诗 139:23-24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7625A"/>
                </a:solidFill>
                <a:latin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20040"/>
            <a:ext cx="2148840" cy="347472"/>
          </a:xfrm>
          <a:prstGeom prst="roundRect">
            <a:avLst/>
          </a:prstGeom>
          <a:solidFill>
            <a:srgbClr val="AD5A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故事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0607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D1D1B"/>
                </a:solidFill>
                <a:latin typeface="Microsoft YaHei"/>
              </a:rPr>
              <a:t>高数 78：没有崩，但没跟上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9966960" cy="2880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300" b="0">
                <a:solidFill>
                  <a:srgbClr val="1D1D1B"/>
                </a:solidFill>
                <a:latin typeface="Microsoft YaHei"/>
              </a:rPr>
              <a:t>大一第一学期，高数 78。</a:t>
            </a:r>
          </a:p>
          <a:p>
            <a:pPr>
              <a:spcAft>
                <a:spcPts val="1200"/>
              </a:spcAft>
            </a:pPr>
            <a:r>
              <a:rPr sz="2300" b="0">
                <a:solidFill>
                  <a:srgbClr val="1D1D1B"/>
                </a:solidFill>
                <a:latin typeface="Microsoft YaHei"/>
              </a:rPr>
              <a:t>我以为“下课再看”，结果下课后根本没看。</a:t>
            </a:r>
          </a:p>
          <a:p>
            <a:pPr>
              <a:spcAft>
                <a:spcPts val="1200"/>
              </a:spcAft>
            </a:pPr>
            <a:r>
              <a:rPr sz="2300" b="0">
                <a:solidFill>
                  <a:srgbClr val="1D1D1B"/>
                </a:solidFill>
                <a:latin typeface="Microsoft YaHei"/>
              </a:rPr>
              <a:t>后来才知道，老师考前其实画过重点。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4892040"/>
            <a:ext cx="98755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AD5A39"/>
                </a:solidFill>
                <a:latin typeface="Microsoft YaHei"/>
              </a:rPr>
              <a:t>今天不处理的问题，明天可能变成一堵墙。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55080"/>
            <a:ext cx="10927080" cy="18288"/>
          </a:xfrm>
          <a:prstGeom prst="rect">
            <a:avLst/>
          </a:prstGeom>
          <a:solidFill>
            <a:srgbClr val="DB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863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7625A"/>
                </a:solidFill>
                <a:latin typeface="Microsoft YaHei"/>
              </a:rPr>
              <a:t>讲得轻松一点，不要把 78 讲成灾难。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1080" y="6419088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7625A"/>
                </a:solidFill>
                <a:latin typeface="Microsoft YaHe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7625A"/>
                </a:solidFill>
                <a:latin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20040"/>
            <a:ext cx="2148840" cy="347472"/>
          </a:xfrm>
          <a:prstGeom prst="roundRect">
            <a:avLst/>
          </a:prstGeom>
          <a:solidFill>
            <a:srgbClr val="305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故事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0607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D1D1B"/>
                </a:solidFill>
                <a:latin typeface="Microsoft YaHei"/>
              </a:rPr>
              <a:t>大二的迷茫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9966960" cy="2880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300" b="0">
                <a:solidFill>
                  <a:srgbClr val="1D1D1B"/>
                </a:solidFill>
                <a:latin typeface="Microsoft YaHei"/>
              </a:rPr>
              <a:t>社会阶层、不公平、炫富新闻看多了，心里很不甘。</a:t>
            </a:r>
          </a:p>
          <a:p>
            <a:pPr>
              <a:spcAft>
                <a:spcPts val="1200"/>
              </a:spcAft>
            </a:pPr>
            <a:r>
              <a:rPr sz="2300" b="0">
                <a:solidFill>
                  <a:srgbClr val="1D1D1B"/>
                </a:solidFill>
                <a:latin typeface="Microsoft YaHei"/>
              </a:rPr>
              <a:t>觉得自己应该有更大的路，但现实提醒我很普通。</a:t>
            </a:r>
          </a:p>
          <a:p>
            <a:pPr>
              <a:spcAft>
                <a:spcPts val="1200"/>
              </a:spcAft>
            </a:pPr>
            <a:r>
              <a:rPr sz="2300" b="0">
                <a:solidFill>
                  <a:srgbClr val="1D1D1B"/>
                </a:solidFill>
                <a:latin typeface="Microsoft YaHei"/>
              </a:rPr>
              <a:t>放假回家，熟悉的问题又浮出来；能抓住的好像只有学习。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4892040"/>
            <a:ext cx="98755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305B75"/>
                </a:solidFill>
                <a:latin typeface="Microsoft YaHei"/>
              </a:rPr>
              <a:t>神不是只在你状态好的时候才看你。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55080"/>
            <a:ext cx="10927080" cy="18288"/>
          </a:xfrm>
          <a:prstGeom prst="rect">
            <a:avLst/>
          </a:prstGeom>
          <a:solidFill>
            <a:srgbClr val="DB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863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7625A"/>
                </a:solidFill>
                <a:latin typeface="Microsoft YaHei"/>
              </a:rPr>
              <a:t>这里不用煽情，讲真实就够了。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1080" y="6419088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7625A"/>
                </a:solidFill>
                <a:latin typeface="Microsoft YaHei"/>
              </a:rPr>
              <a:t>诗 73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7625A"/>
                </a:solidFill>
                <a:latin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20040"/>
            <a:ext cx="2148840" cy="347472"/>
          </a:xfrm>
          <a:prstGeom prst="roundRect">
            <a:avLst/>
          </a:prstGeom>
          <a:solidFill>
            <a:srgbClr val="4365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绕路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0607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D1D1B"/>
                </a:solidFill>
                <a:latin typeface="Microsoft YaHei"/>
              </a:rPr>
              <a:t>怕政治，反而走到宗教学门口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9966960" cy="2880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300" b="0">
                <a:solidFill>
                  <a:srgbClr val="1D1D1B"/>
                </a:solidFill>
                <a:latin typeface="Microsoft YaHei"/>
              </a:rPr>
              <a:t>我怕考研政治，于是努力刷成绩，争取保研。</a:t>
            </a:r>
          </a:p>
          <a:p>
            <a:pPr>
              <a:spcAft>
                <a:spcPts val="1200"/>
              </a:spcAft>
            </a:pPr>
            <a:r>
              <a:rPr sz="2300" b="0">
                <a:solidFill>
                  <a:srgbClr val="1D1D1B"/>
                </a:solidFill>
                <a:latin typeface="Microsoft YaHei"/>
              </a:rPr>
              <a:t>后来去华科学哲学，接触到宗教学。</a:t>
            </a:r>
          </a:p>
          <a:p>
            <a:pPr>
              <a:spcAft>
                <a:spcPts val="1200"/>
              </a:spcAft>
            </a:pPr>
            <a:r>
              <a:rPr sz="2300" b="0">
                <a:solidFill>
                  <a:srgbClr val="1D1D1B"/>
                </a:solidFill>
                <a:latin typeface="Microsoft YaHei"/>
              </a:rPr>
              <a:t>当时看是绕路，回头看像一环扣一环。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4892040"/>
            <a:ext cx="98755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436556"/>
                </a:solidFill>
                <a:latin typeface="Microsoft YaHei"/>
              </a:rPr>
              <a:t>人的脚步，有时候是在神手里被带着走。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55080"/>
            <a:ext cx="10927080" cy="18288"/>
          </a:xfrm>
          <a:prstGeom prst="rect">
            <a:avLst/>
          </a:prstGeom>
          <a:solidFill>
            <a:srgbClr val="DB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863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7625A"/>
                </a:solidFill>
                <a:latin typeface="Microsoft YaHei"/>
              </a:rPr>
              <a:t>让孩子看到：很多路当时不懂，后来才懂。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1080" y="6419088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7625A"/>
                </a:solidFill>
                <a:latin typeface="Microsoft YaHei"/>
              </a:rPr>
              <a:t>箴 16:9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7625A"/>
                </a:solidFill>
                <a:latin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20040"/>
            <a:ext cx="2148840" cy="347472"/>
          </a:xfrm>
          <a:prstGeom prst="roundRect">
            <a:avLst/>
          </a:prstGeom>
          <a:solidFill>
            <a:srgbClr val="BE8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故事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0607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D1D1B"/>
                </a:solidFill>
                <a:latin typeface="Microsoft YaHei"/>
              </a:rPr>
              <a:t>火车上的第一本圣经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9966960" cy="2880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300" b="0">
                <a:solidFill>
                  <a:srgbClr val="1D1D1B"/>
                </a:solidFill>
                <a:latin typeface="Microsoft YaHei"/>
              </a:rPr>
              <a:t>去河南找同学，在火车上看《宗教学导论》。</a:t>
            </a:r>
          </a:p>
          <a:p>
            <a:pPr>
              <a:spcAft>
                <a:spcPts val="1200"/>
              </a:spcAft>
            </a:pPr>
            <a:r>
              <a:rPr sz="2300" b="0">
                <a:solidFill>
                  <a:srgbClr val="1D1D1B"/>
                </a:solidFill>
                <a:latin typeface="Microsoft YaHei"/>
              </a:rPr>
              <a:t>旁边学长聊起来，后来才知道他是基督徒。</a:t>
            </a:r>
          </a:p>
          <a:p>
            <a:pPr>
              <a:spcAft>
                <a:spcPts val="1200"/>
              </a:spcAft>
            </a:pPr>
            <a:r>
              <a:rPr sz="2300" b="0">
                <a:solidFill>
                  <a:srgbClr val="1D1D1B"/>
                </a:solidFill>
                <a:latin typeface="Microsoft YaHei"/>
              </a:rPr>
              <a:t>我说圣经很神秘，他当场送了我第一本圣经。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4892040"/>
            <a:ext cx="98755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BE8F33"/>
                </a:solidFill>
                <a:latin typeface="Microsoft YaHei"/>
              </a:rPr>
              <a:t>神的带领常常不像闪电，更像一环扣一环。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55080"/>
            <a:ext cx="10927080" cy="18288"/>
          </a:xfrm>
          <a:prstGeom prst="rect">
            <a:avLst/>
          </a:prstGeom>
          <a:solidFill>
            <a:srgbClr val="DB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863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7625A"/>
                </a:solidFill>
                <a:latin typeface="Microsoft YaHei"/>
              </a:rPr>
              <a:t>这个故事很有画面，可以多讲一点细节。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1080" y="6419088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7625A"/>
                </a:solidFill>
                <a:latin typeface="Microsoft YaHei"/>
              </a:rPr>
              <a:t>约 15:16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7625A"/>
                </a:solidFill>
                <a:latin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20040"/>
            <a:ext cx="2148840" cy="347472"/>
          </a:xfrm>
          <a:prstGeom prst="roundRect">
            <a:avLst/>
          </a:prstGeom>
          <a:solidFill>
            <a:srgbClr val="4365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第一次读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0607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D1D1B"/>
                </a:solidFill>
                <a:latin typeface="Microsoft YaHei"/>
              </a:rPr>
              <a:t>圣经不是我想象的样子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9966960" cy="2880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300" b="0">
                <a:solidFill>
                  <a:srgbClr val="1D1D1B"/>
                </a:solidFill>
                <a:latin typeface="Microsoft YaHei"/>
              </a:rPr>
              <a:t>我发现里面有历史、书信，也有像箴言一样的智慧。</a:t>
            </a:r>
          </a:p>
          <a:p>
            <a:pPr>
              <a:spcAft>
                <a:spcPts val="1200"/>
              </a:spcAft>
            </a:pPr>
            <a:r>
              <a:rPr sz="2300" b="0">
                <a:solidFill>
                  <a:srgbClr val="1D1D1B"/>
                </a:solidFill>
                <a:latin typeface="Microsoft YaHei"/>
              </a:rPr>
              <a:t>我喜欢讲道理、有智慧的部分。</a:t>
            </a:r>
          </a:p>
          <a:p>
            <a:pPr>
              <a:spcAft>
                <a:spcPts val="1200"/>
              </a:spcAft>
            </a:pPr>
            <a:r>
              <a:rPr sz="2300" b="0">
                <a:solidFill>
                  <a:srgbClr val="1D1D1B"/>
                </a:solidFill>
                <a:latin typeface="Microsoft YaHei"/>
              </a:rPr>
              <a:t>但我并没有马上相信，也不太懂很多敬拜细节。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4892040"/>
            <a:ext cx="98755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436556"/>
                </a:solidFill>
                <a:latin typeface="Microsoft YaHei"/>
              </a:rPr>
              <a:t>好奇，可以成为神带你靠近祂的第一步。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55080"/>
            <a:ext cx="10927080" cy="18288"/>
          </a:xfrm>
          <a:prstGeom prst="rect">
            <a:avLst/>
          </a:prstGeom>
          <a:solidFill>
            <a:srgbClr val="DB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863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7625A"/>
                </a:solidFill>
                <a:latin typeface="Microsoft YaHei"/>
              </a:rPr>
              <a:t>承认“不信”很重要，会让孩子放下假装。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1080" y="6419088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7625A"/>
                </a:solidFill>
                <a:latin typeface="Microsoft YaHei"/>
              </a:rPr>
              <a:t>路 24:27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7625A"/>
                </a:solidFill>
                <a:latin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20040"/>
            <a:ext cx="2148840" cy="347472"/>
          </a:xfrm>
          <a:prstGeom prst="roundRect">
            <a:avLst/>
          </a:prstGeom>
          <a:solidFill>
            <a:srgbClr val="305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0607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D1D1B"/>
                </a:solidFill>
                <a:latin typeface="Microsoft YaHei"/>
              </a:rPr>
              <a:t>神借着人带领我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9966960" cy="2880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300" b="0">
                <a:solidFill>
                  <a:srgbClr val="1D1D1B"/>
                </a:solidFill>
                <a:latin typeface="Microsoft YaHei"/>
              </a:rPr>
              <a:t>奶奶不识字，信仰很单纯，却一直为我祷告。</a:t>
            </a:r>
          </a:p>
          <a:p>
            <a:pPr>
              <a:spcAft>
                <a:spcPts val="1200"/>
              </a:spcAft>
            </a:pPr>
            <a:r>
              <a:rPr sz="2300" b="0">
                <a:solidFill>
                  <a:srgbClr val="1D1D1B"/>
                </a:solidFill>
                <a:latin typeface="Microsoft YaHei"/>
              </a:rPr>
              <a:t>后来身边陆续出现基督徒朋友。</a:t>
            </a:r>
          </a:p>
          <a:p>
            <a:pPr>
              <a:spcAft>
                <a:spcPts val="1200"/>
              </a:spcAft>
            </a:pPr>
            <a:r>
              <a:rPr sz="2300" b="0">
                <a:solidFill>
                  <a:srgbClr val="1D1D1B"/>
                </a:solidFill>
                <a:latin typeface="Microsoft YaHei"/>
              </a:rPr>
              <a:t>我被他们的生命、友善、敬拜和真实吸引。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4892040"/>
            <a:ext cx="98755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305B75"/>
                </a:solidFill>
                <a:latin typeface="Microsoft YaHei"/>
              </a:rPr>
              <a:t>有时候，神先让你遇见一个人，再让你明白一条路。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55080"/>
            <a:ext cx="10927080" cy="18288"/>
          </a:xfrm>
          <a:prstGeom prst="rect">
            <a:avLst/>
          </a:prstGeom>
          <a:solidFill>
            <a:srgbClr val="DB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863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7625A"/>
                </a:solidFill>
                <a:latin typeface="Microsoft YaHei"/>
              </a:rPr>
              <a:t>不要把人讲成完美，只讲他们身上让你看见的光。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1080" y="6419088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7625A"/>
                </a:solidFill>
                <a:latin typeface="Microsoft YaHei"/>
              </a:rPr>
              <a:t>太 5:16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7625A"/>
                </a:solidFill>
                <a:latin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20040"/>
            <a:ext cx="2148840" cy="347472"/>
          </a:xfrm>
          <a:prstGeom prst="roundRect">
            <a:avLst/>
          </a:prstGeom>
          <a:solidFill>
            <a:srgbClr val="BE8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不是偶然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0607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D1D1B"/>
                </a:solidFill>
                <a:latin typeface="Microsoft YaHei"/>
              </a:rPr>
              <a:t>你今天在这里，不只是偶然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9966960" cy="2880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300" b="0">
                <a:solidFill>
                  <a:srgbClr val="1D1D1B"/>
                </a:solidFill>
                <a:latin typeface="Microsoft YaHei"/>
              </a:rPr>
              <a:t>我不是从小就完全明白信仰。</a:t>
            </a:r>
          </a:p>
          <a:p>
            <a:pPr>
              <a:spcAft>
                <a:spcPts val="1200"/>
              </a:spcAft>
            </a:pPr>
            <a:r>
              <a:rPr sz="2300" b="0">
                <a:solidFill>
                  <a:srgbClr val="1D1D1B"/>
                </a:solidFill>
                <a:latin typeface="Microsoft YaHei"/>
              </a:rPr>
              <a:t>但很多细节后来连起来，像神一步一步在带。</a:t>
            </a:r>
          </a:p>
          <a:p>
            <a:pPr>
              <a:spcAft>
                <a:spcPts val="1200"/>
              </a:spcAft>
            </a:pPr>
            <a:r>
              <a:rPr sz="2300" b="0">
                <a:solidFill>
                  <a:srgbClr val="1D1D1B"/>
                </a:solidFill>
                <a:latin typeface="Microsoft YaHei"/>
              </a:rPr>
              <a:t>所以你们今天坐在这里，也可以认真想一想。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4892040"/>
            <a:ext cx="98755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BE8F33"/>
                </a:solidFill>
                <a:latin typeface="Microsoft YaHei"/>
              </a:rPr>
              <a:t>你是宝贵的，不是多余的。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55080"/>
            <a:ext cx="10927080" cy="18288"/>
          </a:xfrm>
          <a:prstGeom prst="rect">
            <a:avLst/>
          </a:prstGeom>
          <a:solidFill>
            <a:srgbClr val="DB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863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7625A"/>
                </a:solidFill>
                <a:latin typeface="Microsoft YaHei"/>
              </a:rPr>
              <a:t>语气要温柔：不是给结论，是邀请他们思想。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1080" y="6419088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7625A"/>
                </a:solidFill>
                <a:latin typeface="Microsoft YaHei"/>
              </a:rPr>
              <a:t>约 15:16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7625A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20040"/>
            <a:ext cx="2148840" cy="347472"/>
          </a:xfrm>
          <a:prstGeom prst="roundRect">
            <a:avLst/>
          </a:prstGeom>
          <a:solidFill>
            <a:srgbClr val="4365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世界声音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0607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D1D1B"/>
                </a:solidFill>
                <a:latin typeface="Microsoft YaHei"/>
              </a:rPr>
              <a:t>很多声音都会解释世界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9966960" cy="2880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300" b="0">
                <a:solidFill>
                  <a:srgbClr val="1D1D1B"/>
                </a:solidFill>
                <a:latin typeface="Microsoft YaHei"/>
              </a:rPr>
              <a:t>科学、无神论、AI、同学观点、短视频都会给答案。</a:t>
            </a:r>
          </a:p>
          <a:p>
            <a:pPr>
              <a:spcAft>
                <a:spcPts val="1200"/>
              </a:spcAft>
            </a:pPr>
            <a:r>
              <a:rPr sz="2300" b="0">
                <a:solidFill>
                  <a:srgbClr val="1D1D1B"/>
                </a:solidFill>
                <a:latin typeface="Microsoft YaHei"/>
              </a:rPr>
              <a:t>它们会告诉你：世界是什么，人是什么，成功是什么。</a:t>
            </a:r>
          </a:p>
          <a:p>
            <a:pPr>
              <a:spcAft>
                <a:spcPts val="1200"/>
              </a:spcAft>
            </a:pPr>
            <a:r>
              <a:rPr sz="2300" b="0">
                <a:solidFill>
                  <a:srgbClr val="1D1D1B"/>
                </a:solidFill>
                <a:latin typeface="Microsoft YaHei"/>
              </a:rPr>
              <a:t>关键不是你听不听，而是谁有资格定义你。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4892040"/>
            <a:ext cx="98755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436556"/>
                </a:solidFill>
                <a:latin typeface="Microsoft YaHei"/>
              </a:rPr>
              <a:t>让圣经解释你是谁，而不是让成绩、流量和比较解释你。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55080"/>
            <a:ext cx="10927080" cy="18288"/>
          </a:xfrm>
          <a:prstGeom prst="rect">
            <a:avLst/>
          </a:prstGeom>
          <a:solidFill>
            <a:srgbClr val="DB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863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7625A"/>
                </a:solidFill>
                <a:latin typeface="Microsoft YaHei"/>
              </a:rPr>
              <a:t>承接原主题：信仰与科学/理性。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1080" y="6419088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7625A"/>
                </a:solidFill>
                <a:latin typeface="Microsoft YaHei"/>
              </a:rPr>
              <a:t>西 2:8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7625A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20040"/>
            <a:ext cx="2148840" cy="347472"/>
          </a:xfrm>
          <a:prstGeom prst="roundRect">
            <a:avLst/>
          </a:prstGeom>
          <a:solidFill>
            <a:srgbClr val="305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0607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D1D1B"/>
                </a:solidFill>
                <a:latin typeface="Microsoft YaHei"/>
              </a:rPr>
              <a:t>AI 很强，但它不是神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9966960" cy="2880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300" b="0">
                <a:solidFill>
                  <a:srgbClr val="1D1D1B"/>
                </a:solidFill>
                <a:latin typeface="Microsoft YaHei"/>
              </a:rPr>
              <a:t>AI 是人花巨大代价造出来的工具。</a:t>
            </a:r>
          </a:p>
          <a:p>
            <a:pPr>
              <a:spcAft>
                <a:spcPts val="1200"/>
              </a:spcAft>
            </a:pPr>
            <a:r>
              <a:rPr sz="2300" b="0">
                <a:solidFill>
                  <a:srgbClr val="1D1D1B"/>
                </a:solidFill>
                <a:latin typeface="Microsoft YaHei"/>
              </a:rPr>
              <a:t>它会写、会算、会总结，但没有人的良心、敬拜和悔改。</a:t>
            </a:r>
          </a:p>
          <a:p>
            <a:pPr>
              <a:spcAft>
                <a:spcPts val="1200"/>
              </a:spcAft>
            </a:pPr>
            <a:r>
              <a:rPr sz="2300" b="0">
                <a:solidFill>
                  <a:srgbClr val="1D1D1B"/>
                </a:solidFill>
                <a:latin typeface="Microsoft YaHei"/>
              </a:rPr>
              <a:t>这份讲稿也是 AI 帮我整理，但想法、取舍和责任是我的。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4892040"/>
            <a:ext cx="98755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305B75"/>
                </a:solidFill>
                <a:latin typeface="Microsoft YaHei"/>
              </a:rPr>
              <a:t>用 AI，不要被 AI 牵着走。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55080"/>
            <a:ext cx="10927080" cy="18288"/>
          </a:xfrm>
          <a:prstGeom prst="rect">
            <a:avLst/>
          </a:prstGeom>
          <a:solidFill>
            <a:srgbClr val="DB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863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7625A"/>
                </a:solidFill>
                <a:latin typeface="Microsoft YaHei"/>
              </a:rPr>
              <a:t>可以现场演示：让 AI 改一段话，再解释为什么你要把关。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1080" y="6419088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7625A"/>
                </a:solidFill>
                <a:latin typeface="Microsoft YaHei"/>
              </a:rPr>
              <a:t>创 1:27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7625A"/>
                </a:solidFill>
                <a:latin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20040"/>
            <a:ext cx="2148840" cy="347472"/>
          </a:xfrm>
          <a:prstGeom prst="roundRect">
            <a:avLst/>
          </a:prstGeom>
          <a:solidFill>
            <a:srgbClr val="4365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理性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0607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D1D1B"/>
                </a:solidFill>
                <a:latin typeface="Microsoft YaHei"/>
              </a:rPr>
              <a:t>信仰不怕诚实怀疑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9966960" cy="2880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300" b="0">
                <a:solidFill>
                  <a:srgbClr val="1D1D1B"/>
                </a:solidFill>
                <a:latin typeface="Microsoft YaHei"/>
              </a:rPr>
              <a:t>多马有疑问，耶稣没有把他赶走。</a:t>
            </a:r>
          </a:p>
          <a:p>
            <a:pPr>
              <a:spcAft>
                <a:spcPts val="1200"/>
              </a:spcAft>
            </a:pPr>
            <a:r>
              <a:rPr sz="2300" b="0">
                <a:solidFill>
                  <a:srgbClr val="1D1D1B"/>
                </a:solidFill>
                <a:latin typeface="Microsoft YaHei"/>
              </a:rPr>
              <a:t>真正危险的不是怀疑，而是假装没有怀疑。</a:t>
            </a:r>
          </a:p>
          <a:p>
            <a:pPr>
              <a:spcAft>
                <a:spcPts val="1200"/>
              </a:spcAft>
            </a:pPr>
            <a:r>
              <a:rPr sz="2300" b="0">
                <a:solidFill>
                  <a:srgbClr val="1D1D1B"/>
                </a:solidFill>
                <a:latin typeface="Microsoft YaHei"/>
              </a:rPr>
              <a:t>考试可以按学科要求作答，心里仍知道创造主是谁。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4892040"/>
            <a:ext cx="98755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436556"/>
                </a:solidFill>
                <a:latin typeface="Microsoft YaHei"/>
              </a:rPr>
              <a:t>把问题带到神面前，不要带着问题远离神。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55080"/>
            <a:ext cx="10927080" cy="18288"/>
          </a:xfrm>
          <a:prstGeom prst="rect">
            <a:avLst/>
          </a:prstGeom>
          <a:solidFill>
            <a:srgbClr val="DB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863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7625A"/>
                </a:solidFill>
                <a:latin typeface="Microsoft YaHei"/>
              </a:rPr>
              <a:t>这一页要稳：不鼓励顶撞考试，也不让孩子压抑信仰。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1080" y="6419088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7625A"/>
                </a:solidFill>
                <a:latin typeface="Microsoft YaHei"/>
              </a:rPr>
              <a:t>约 20:24-29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7625A"/>
                </a:solidFill>
                <a:latin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20040"/>
            <a:ext cx="2148840" cy="347472"/>
          </a:xfrm>
          <a:prstGeom prst="roundRect">
            <a:avLst/>
          </a:prstGeom>
          <a:solidFill>
            <a:srgbClr val="AD5A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故事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0607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D1D1B"/>
                </a:solidFill>
                <a:latin typeface="Microsoft YaHei"/>
              </a:rPr>
              <a:t>技术很强，人心仍然会寻找保佑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9966960" cy="2880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300" b="0">
                <a:solidFill>
                  <a:srgbClr val="1D1D1B"/>
                </a:solidFill>
                <a:latin typeface="Microsoft YaHei"/>
              </a:rPr>
              <a:t>研究生出差到航天五院，处理卫星数据。</a:t>
            </a:r>
          </a:p>
          <a:p>
            <a:pPr>
              <a:spcAft>
                <a:spcPts val="1200"/>
              </a:spcAft>
            </a:pPr>
            <a:r>
              <a:rPr sz="2300" b="0">
                <a:solidFill>
                  <a:srgbClr val="1D1D1B"/>
                </a:solidFill>
                <a:latin typeface="Microsoft YaHei"/>
              </a:rPr>
              <a:t>解析帧头时，意外看到“南无阿弥陀佛”。</a:t>
            </a:r>
          </a:p>
          <a:p>
            <a:pPr>
              <a:spcAft>
                <a:spcPts val="1200"/>
              </a:spcAft>
            </a:pPr>
            <a:r>
              <a:rPr sz="2300" b="0">
                <a:solidFill>
                  <a:srgbClr val="1D1D1B"/>
                </a:solidFill>
                <a:latin typeface="Microsoft YaHei"/>
              </a:rPr>
              <a:t>这个例子不是为了嘲笑，而是说明：人再理性，也会寻找安全感。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4892040"/>
            <a:ext cx="98755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AD5A39"/>
                </a:solidFill>
                <a:latin typeface="Microsoft YaHei"/>
              </a:rPr>
              <a:t>人心里面有一个空位，不是技术能填满的。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55080"/>
            <a:ext cx="10927080" cy="18288"/>
          </a:xfrm>
          <a:prstGeom prst="rect">
            <a:avLst/>
          </a:prstGeom>
          <a:solidFill>
            <a:srgbClr val="DB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863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7625A"/>
                </a:solidFill>
                <a:latin typeface="Microsoft YaHei"/>
              </a:rPr>
              <a:t>讲这个要克制，不评价人，只观察人的需要。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1080" y="6419088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7625A"/>
                </a:solidFill>
                <a:latin typeface="Microsoft YaHei"/>
              </a:rPr>
              <a:t>传 3:11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7625A"/>
                </a:solidFill>
                <a:latin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20040"/>
            <a:ext cx="2148840" cy="347472"/>
          </a:xfrm>
          <a:prstGeom prst="roundRect">
            <a:avLst/>
          </a:prstGeom>
          <a:solidFill>
            <a:srgbClr val="305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偶像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0607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D1D1B"/>
                </a:solidFill>
                <a:latin typeface="Microsoft YaHei"/>
              </a:rPr>
              <a:t>成绩、自由、游戏，都可能坐上神的位置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9966960" cy="2880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300" b="0">
                <a:solidFill>
                  <a:srgbClr val="1D1D1B"/>
                </a:solidFill>
                <a:latin typeface="Microsoft YaHei"/>
              </a:rPr>
              <a:t>成绩有用，但不能决定你的价值。</a:t>
            </a:r>
          </a:p>
          <a:p>
            <a:pPr>
              <a:spcAft>
                <a:spcPts val="1200"/>
              </a:spcAft>
            </a:pPr>
            <a:r>
              <a:rPr sz="2300" b="0">
                <a:solidFill>
                  <a:srgbClr val="1D1D1B"/>
                </a:solidFill>
                <a:latin typeface="Microsoft YaHei"/>
              </a:rPr>
              <a:t>自由很好，但没有方向会变成漂。</a:t>
            </a:r>
          </a:p>
          <a:p>
            <a:pPr>
              <a:spcAft>
                <a:spcPts val="1200"/>
              </a:spcAft>
            </a:pPr>
            <a:r>
              <a:rPr sz="2300" b="0">
                <a:solidFill>
                  <a:srgbClr val="1D1D1B"/>
                </a:solidFill>
                <a:latin typeface="Microsoft YaHei"/>
              </a:rPr>
              <a:t>游戏开始是放松，后来可能变成“赢不了就不睡”。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4892040"/>
            <a:ext cx="98755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305B75"/>
                </a:solidFill>
                <a:latin typeface="Microsoft YaHei"/>
              </a:rPr>
              <a:t>好东西一旦掌控你，就可能变成偶像。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55080"/>
            <a:ext cx="10927080" cy="18288"/>
          </a:xfrm>
          <a:prstGeom prst="rect">
            <a:avLst/>
          </a:prstGeom>
          <a:solidFill>
            <a:srgbClr val="DB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863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7625A"/>
                </a:solidFill>
                <a:latin typeface="Microsoft YaHei"/>
              </a:rPr>
              <a:t>这里讲自己，不盯着孩子训。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1080" y="6419088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7625A"/>
                </a:solidFill>
                <a:latin typeface="Microsoft YaHei"/>
              </a:rPr>
              <a:t>林前 6:12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7625A"/>
                </a:solidFill>
                <a:latin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20040"/>
            <a:ext cx="2148840" cy="347472"/>
          </a:xfrm>
          <a:prstGeom prst="roundRect">
            <a:avLst/>
          </a:prstGeom>
          <a:solidFill>
            <a:srgbClr val="4365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高中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0607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D1D1B"/>
                </a:solidFill>
                <a:latin typeface="Microsoft YaHei"/>
              </a:rPr>
              <a:t>给高中的一点具体建议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9966960" cy="2880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300" b="0">
                <a:solidFill>
                  <a:srgbClr val="1D1D1B"/>
                </a:solidFill>
                <a:latin typeface="Microsoft YaHei"/>
              </a:rPr>
              <a:t>问题尽量不过夜：当天不会，尽快问清楚。</a:t>
            </a:r>
          </a:p>
          <a:p>
            <a:pPr>
              <a:spcAft>
                <a:spcPts val="1200"/>
              </a:spcAft>
            </a:pPr>
            <a:r>
              <a:rPr sz="2300" b="0">
                <a:solidFill>
                  <a:srgbClr val="1D1D1B"/>
                </a:solidFill>
                <a:latin typeface="Microsoft YaHei"/>
              </a:rPr>
              <a:t>一轮跟上，二轮补细节，三轮串起来。</a:t>
            </a:r>
          </a:p>
          <a:p>
            <a:pPr>
              <a:spcAft>
                <a:spcPts val="1200"/>
              </a:spcAft>
            </a:pPr>
            <a:r>
              <a:rPr sz="2300" b="0">
                <a:solidFill>
                  <a:srgbClr val="1D1D1B"/>
                </a:solidFill>
                <a:latin typeface="Microsoft YaHei"/>
              </a:rPr>
              <a:t>不要让成绩成为你的神，也不要让失败定义你。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4892040"/>
            <a:ext cx="98755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436556"/>
                </a:solidFill>
                <a:latin typeface="Microsoft YaHei"/>
              </a:rPr>
              <a:t>努力是好的，但你不是分数。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55080"/>
            <a:ext cx="10927080" cy="18288"/>
          </a:xfrm>
          <a:prstGeom prst="rect">
            <a:avLst/>
          </a:prstGeom>
          <a:solidFill>
            <a:srgbClr val="DB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863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7625A"/>
                </a:solidFill>
                <a:latin typeface="Microsoft YaHei"/>
              </a:rPr>
              <a:t>方法可以讲具体，但不要把方法讲成救主。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1080" y="6419088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7625A"/>
                </a:solidFill>
                <a:latin typeface="Microsoft YaHei"/>
              </a:rPr>
              <a:t>箴 4:23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7625A"/>
                </a:solidFill>
                <a:latin typeface="Microsoft Ya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20040"/>
            <a:ext cx="2148840" cy="347472"/>
          </a:xfrm>
          <a:prstGeom prst="roundRect">
            <a:avLst/>
          </a:prstGeom>
          <a:solidFill>
            <a:srgbClr val="BE8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大学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0607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D1D1B"/>
                </a:solidFill>
                <a:latin typeface="Microsoft YaHei"/>
              </a:rPr>
              <a:t>给大学的一点具体建议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9966960" cy="2880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300" b="0">
                <a:solidFill>
                  <a:srgbClr val="1D1D1B"/>
                </a:solidFill>
                <a:latin typeface="Microsoft YaHei"/>
              </a:rPr>
              <a:t>先搞清楚规则：GPA、保研、转专业、英语、实习。</a:t>
            </a:r>
          </a:p>
          <a:p>
            <a:pPr>
              <a:spcAft>
                <a:spcPts val="1200"/>
              </a:spcAft>
            </a:pPr>
            <a:r>
              <a:rPr sz="2300" b="0">
                <a:solidFill>
                  <a:srgbClr val="1D1D1B"/>
                </a:solidFill>
                <a:latin typeface="Microsoft YaHei"/>
              </a:rPr>
              <a:t>珍惜同学时代，也珍惜时间；不要一放松就彻底放飞。</a:t>
            </a:r>
          </a:p>
          <a:p>
            <a:pPr>
              <a:spcAft>
                <a:spcPts val="1200"/>
              </a:spcAft>
            </a:pPr>
            <a:r>
              <a:rPr sz="2300" b="0">
                <a:solidFill>
                  <a:srgbClr val="1D1D1B"/>
                </a:solidFill>
                <a:latin typeface="Microsoft YaHei"/>
              </a:rPr>
              <a:t>找教会、找成熟的人，别让孤独把你推走。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4892040"/>
            <a:ext cx="98755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BE8F33"/>
                </a:solidFill>
                <a:latin typeface="Microsoft YaHei"/>
              </a:rPr>
              <a:t>自由不是没人管你，而是你开始学习怎样管理自己。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55080"/>
            <a:ext cx="10927080" cy="18288"/>
          </a:xfrm>
          <a:prstGeom prst="rect">
            <a:avLst/>
          </a:prstGeom>
          <a:solidFill>
            <a:srgbClr val="DB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863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7625A"/>
                </a:solidFill>
                <a:latin typeface="Microsoft YaHei"/>
              </a:rPr>
              <a:t>大学建议要接地气：规则、时间、关系、信仰。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1080" y="6419088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7625A"/>
                </a:solidFill>
                <a:latin typeface="Microsoft YaHei"/>
              </a:rPr>
              <a:t>弗 5:15-16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7625A"/>
                </a:solidFill>
                <a:latin typeface="Microsoft Ya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20040"/>
            <a:ext cx="2148840" cy="347472"/>
          </a:xfrm>
          <a:prstGeom prst="roundRect">
            <a:avLst/>
          </a:prstGeom>
          <a:solidFill>
            <a:srgbClr val="305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求助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0607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D1D1B"/>
                </a:solidFill>
                <a:latin typeface="Microsoft YaHei"/>
              </a:rPr>
              <a:t>有怀疑、有试探，不要藏到黑暗里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9966960" cy="2880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300" b="0">
                <a:solidFill>
                  <a:srgbClr val="1D1D1B"/>
                </a:solidFill>
                <a:latin typeface="Microsoft YaHei"/>
              </a:rPr>
              <a:t>不要害怕做多马：有怀疑，不要假装没有。</a:t>
            </a:r>
          </a:p>
          <a:p>
            <a:pPr>
              <a:spcAft>
                <a:spcPts val="1200"/>
              </a:spcAft>
            </a:pPr>
            <a:r>
              <a:rPr sz="2300" b="0">
                <a:solidFill>
                  <a:srgbClr val="1D1D1B"/>
                </a:solidFill>
                <a:latin typeface="Microsoft YaHei"/>
              </a:rPr>
              <a:t>不要当众认敏感的罪；找成熟、可信、能保密的人。</a:t>
            </a:r>
          </a:p>
          <a:p>
            <a:pPr>
              <a:spcAft>
                <a:spcPts val="1200"/>
              </a:spcAft>
            </a:pPr>
            <a:r>
              <a:rPr sz="2300" b="0">
                <a:solidFill>
                  <a:srgbClr val="1D1D1B"/>
                </a:solidFill>
                <a:latin typeface="Microsoft YaHei"/>
              </a:rPr>
              <a:t>一句诚实祷告：主啊，我信；求你帮助我的不信。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4892040"/>
            <a:ext cx="98755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305B75"/>
                </a:solidFill>
                <a:latin typeface="Microsoft YaHei"/>
              </a:rPr>
              <a:t>藏起来才危险，诚实走向光里就有盼望。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55080"/>
            <a:ext cx="10927080" cy="18288"/>
          </a:xfrm>
          <a:prstGeom prst="rect">
            <a:avLst/>
          </a:prstGeom>
          <a:solidFill>
            <a:srgbClr val="DB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863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7625A"/>
                </a:solidFill>
                <a:latin typeface="Microsoft YaHei"/>
              </a:rPr>
              <a:t>保护孩子，不制造猎奇和羞耻。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1080" y="6419088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7625A"/>
                </a:solidFill>
                <a:latin typeface="Microsoft YaHei"/>
              </a:rPr>
              <a:t>可 9:24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7625A"/>
                </a:solidFill>
                <a:latin typeface="Microsoft YaHe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20040"/>
            <a:ext cx="2148840" cy="347472"/>
          </a:xfrm>
          <a:prstGeom prst="roundRect">
            <a:avLst/>
          </a:prstGeom>
          <a:solidFill>
            <a:srgbClr val="4365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带走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0607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D1D1B"/>
                </a:solidFill>
                <a:latin typeface="Microsoft YaHei"/>
              </a:rPr>
              <a:t>给你们四样能抓住的东西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9966960" cy="2880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300" b="0">
                <a:solidFill>
                  <a:srgbClr val="1D1D1B"/>
                </a:solidFill>
                <a:latin typeface="Microsoft YaHei"/>
              </a:rPr>
              <a:t>一节经文：撑不住时可以反复读。</a:t>
            </a:r>
          </a:p>
          <a:p>
            <a:pPr>
              <a:spcAft>
                <a:spcPts val="1200"/>
              </a:spcAft>
            </a:pPr>
            <a:r>
              <a:rPr sz="2300" b="0">
                <a:solidFill>
                  <a:srgbClr val="1D1D1B"/>
                </a:solidFill>
                <a:latin typeface="Microsoft YaHei"/>
              </a:rPr>
              <a:t>一句祷告：不知道怎么祷告，也可以从一句开始。</a:t>
            </a:r>
          </a:p>
          <a:p>
            <a:pPr>
              <a:spcAft>
                <a:spcPts val="1200"/>
              </a:spcAft>
            </a:pPr>
            <a:r>
              <a:rPr sz="2300" b="0">
                <a:solidFill>
                  <a:srgbClr val="1D1D1B"/>
                </a:solidFill>
                <a:latin typeface="Microsoft YaHei"/>
              </a:rPr>
              <a:t>一首诗歌：将来低谷时，旋律会把你带回来。</a:t>
            </a:r>
          </a:p>
          <a:p>
            <a:pPr>
              <a:spcAft>
                <a:spcPts val="1200"/>
              </a:spcAft>
            </a:pPr>
            <a:r>
              <a:rPr sz="2300" b="0">
                <a:solidFill>
                  <a:srgbClr val="1D1D1B"/>
                </a:solidFill>
                <a:latin typeface="Microsoft YaHei"/>
              </a:rPr>
              <a:t>一个人：遇到难处时，知道可以找谁。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4892040"/>
            <a:ext cx="98755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436556"/>
                </a:solidFill>
                <a:latin typeface="Microsoft YaHei"/>
              </a:rPr>
              <a:t>你不用一个人消失，你可以回到神面前。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55080"/>
            <a:ext cx="10927080" cy="18288"/>
          </a:xfrm>
          <a:prstGeom prst="rect">
            <a:avLst/>
          </a:prstGeom>
          <a:solidFill>
            <a:srgbClr val="DB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863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7625A"/>
                </a:solidFill>
                <a:latin typeface="Microsoft YaHei"/>
              </a:rPr>
              <a:t>这里可以让大家安静写下一个名字。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1080" y="6419088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7625A"/>
                </a:solidFill>
                <a:latin typeface="Microsoft YaHei"/>
              </a:rPr>
              <a:t>罗 8:26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7625A"/>
                </a:solidFill>
                <a:latin typeface="Microsoft YaHe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20040"/>
            <a:ext cx="2148840" cy="347472"/>
          </a:xfrm>
          <a:prstGeom prst="roundRect">
            <a:avLst/>
          </a:prstGeom>
          <a:solidFill>
            <a:srgbClr val="AD5A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结尾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06070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D1D1B"/>
                </a:solidFill>
                <a:latin typeface="Microsoft YaHei"/>
              </a:rPr>
              <a:t>愿你将来想起这一句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828800"/>
            <a:ext cx="9966960" cy="2880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300" b="0">
                <a:solidFill>
                  <a:srgbClr val="1D1D1B"/>
                </a:solidFill>
                <a:latin typeface="Microsoft YaHei"/>
              </a:rPr>
              <a:t>你可能会离开父母，但神没有离开你。</a:t>
            </a:r>
          </a:p>
          <a:p>
            <a:pPr>
              <a:spcAft>
                <a:spcPts val="1200"/>
              </a:spcAft>
            </a:pPr>
            <a:r>
              <a:rPr sz="2300" b="0">
                <a:solidFill>
                  <a:srgbClr val="1D1D1B"/>
                </a:solidFill>
                <a:latin typeface="Microsoft YaHei"/>
              </a:rPr>
              <a:t>你可能会软弱，但软弱不是终点。</a:t>
            </a:r>
          </a:p>
          <a:p>
            <a:pPr>
              <a:spcAft>
                <a:spcPts val="1200"/>
              </a:spcAft>
            </a:pPr>
            <a:r>
              <a:rPr sz="2300" b="0">
                <a:solidFill>
                  <a:srgbClr val="1D1D1B"/>
                </a:solidFill>
                <a:latin typeface="Microsoft YaHei"/>
              </a:rPr>
              <a:t>你可能会怀疑，但可以诚实来到神面前。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4892040"/>
            <a:ext cx="98755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BD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AD5A39"/>
                </a:solidFill>
                <a:latin typeface="Microsoft YaHei"/>
              </a:rPr>
              <a:t>撑不住的时候，不要躲开神。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55080"/>
            <a:ext cx="10927080" cy="18288"/>
          </a:xfrm>
          <a:prstGeom prst="rect">
            <a:avLst/>
          </a:prstGeom>
          <a:solidFill>
            <a:srgbClr val="DBD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7863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7625A"/>
                </a:solidFill>
                <a:latin typeface="Microsoft YaHei"/>
              </a:rPr>
              <a:t>最后不要拔高，温柔收住，进入祷告或诗歌。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41080" y="6419088"/>
            <a:ext cx="2423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7625A"/>
                </a:solidFill>
                <a:latin typeface="Microsoft YaHei"/>
              </a:rPr>
              <a:t>约 16:33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19088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7625A"/>
                </a:solidFill>
                <a:latin typeface="Microsoft YaHei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